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failed payment isn't necessarily a failed transaction. It's a decision problem.</a:t>
            </a:r>
          </a:p>
          <a:p/>
          <a:p>
            <a:r>
              <a:t>Do we retry? Switch the payment route? Ask the customer to take action? Wait for reconciliation? Or stop?</a:t>
            </a:r>
          </a:p>
          <a:p/>
          <a:p>
            <a:r>
              <a:t>And in payments, the wrong recovery decision can be worse than no recovery at all.</a:t>
            </a:r>
          </a:p>
          <a:p/>
          <a:p>
            <a:r>
              <a:t>So we built IRO — the Intelligent Recovery Orchestrator.</a:t>
            </a:r>
          </a:p>
          <a:p/>
          <a:p>
            <a:r>
              <a:t>Our first design decision was actually not to use AI everywhere.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we retry? Switch the payment route? Ask the customer to take action? Wait for reconciliation? Or stop?</a:t>
            </a:r>
          </a:p>
          <a:p/>
          <a:p>
            <a:r>
              <a:t>And in payments, the wrong recovery decision can be worse than no recovery at all.</a:t>
            </a:r>
          </a:p>
          <a:p/>
          <a:p>
            <a:r>
              <a:t>Most payment failures are predictable. A transient failure doesn't need an AI model deciding whether to retry.</a:t>
            </a:r>
          </a:p>
          <a:p/>
          <a:p>
            <a:r>
              <a:t>So IRO uses a decision hierarchy. Deterministic rules handle what we already understand, and AI is introduced only when the recovery decision becomes ambiguous.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 IRO uses a decision hierarchy. Deterministic rules handle what we already understand, and AI is introduced only when the recovery decision becomes ambiguous.</a:t>
            </a:r>
          </a:p>
          <a:p/>
          <a:p>
            <a:r>
              <a:t>AI proposes. The system decides.</a:t>
            </a:r>
          </a:p>
          <a:p/>
          <a:p>
            <a:r>
              <a:t>Every AI recommendation passes through deterministic safety guards and a financial policy engine before any recovery action can execute.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hard part, however, wasn't just AI. It was everything around it.</a:t>
            </a:r>
          </a:p>
          <a:p/>
          <a:p>
            <a:r>
              <a:t>First was concurrency.</a:t>
            </a:r>
          </a:p>
          <a:p/>
          <a:p>
            <a:r>
              <a:t>In an event-driven payment system, the same failure can reach multiple workers. Two workers trying to recover the same payment could potentially create a duplicate financial action.</a:t>
            </a:r>
          </a:p>
          <a:p/>
          <a:p>
            <a:r>
              <a:t>So we use Redis for distributed locking, while the database provides the durable idempotency barrier.</a:t>
            </a:r>
          </a:p>
          <a:p/>
          <a:p>
            <a:r>
              <a:t>In simple terms, Redis answers who can work on this payment now, while the database answers whether this recovery has already happened.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second challenge was that payment state can change while recovery is waiting.</a:t>
            </a:r>
          </a:p>
          <a:p/>
          <a:p>
            <a:r>
              <a:t>Imagine a payment fails, we schedule a recovery, and then the original payment succeeds.</a:t>
            </a:r>
          </a:p>
          <a:p/>
          <a:p>
            <a:r>
              <a:t>Before execution, IRO revalidates the current payment state. If the payment has already succeeded, the recovery is stopped.</a:t>
            </a:r>
          </a:p>
          <a:p/>
          <a:p>
            <a:r>
              <a:t>Another difficult case is a timeout. A timeout doesn't always mean the payment actually failed. The bank could still be processing it. Blindly retrying in that situation could create another financial action.</a:t>
            </a:r>
          </a:p>
          <a:p/>
          <a:p>
            <a:r>
              <a:t>So instead, IRO can hold the recovery and wait for reconciliation.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 finally, once AI becomes part of the architecture, AI itself becomes an infrastructure problem.</a:t>
            </a:r>
          </a:p>
          <a:p/>
          <a:p>
            <a:r>
              <a:t>We use tiered model routing and an L7 load balancer so that simpler cases can use lightweight inference, while complex cases are routed to deeper reasoning capacity.</a:t>
            </a:r>
          </a:p>
          <a:p/>
          <a:p>
            <a:r>
              <a:t>The goal isn't to use more AI. It's to use exactly as much intelligence as the decision requires.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Now let's see how this works in an actual recovery case.</a:t>
            </a:r>
          </a:p>
          <a:p/>
          <a:p>
            <a:r>
              <a:t>Imagine a seventy-five-thousand-rupee credit card payment that failed because its payment route has degraded, after multiple attempts.</a:t>
            </a:r>
          </a:p>
          <a:p/>
          <a:p>
            <a:r>
              <a:t>This isn't a straightforward retry anymore. IRO detects the ambiguity and sends the case to its specialist investigation layer.</a:t>
            </a:r>
          </a:p>
          <a:p/>
          <a:p>
            <a:r>
              <a:t>The agent can inspect the payment history, previous attempts, route health, and merchant recovery policy, but it has no write access to the payment system.</a:t>
            </a:r>
          </a:p>
          <a:p/>
          <a:p>
            <a:r>
              <a:t>Based on that evidence, the AI recommends switching to a healthier payment route. But that recommendation is not execution.</a:t>
            </a:r>
          </a:p>
          <a:p/>
          <a:p>
            <a:r>
              <a:t>The financial policy engine independently checks the retry limits, recovery window, merchant policy, permitted strategy, and current payment state.</a:t>
            </a:r>
          </a:p>
          <a:p/>
          <a:p>
            <a:r>
              <a:t>Only after those checks pass can execution happen. The concurrency lock is acquired, idempotency is reserved, and the recovery is executed.</a:t>
            </a:r>
          </a:p>
          <a:p/>
          <a:p>
            <a:r>
              <a:t>That's the difference between an AI agent acting on a payment and a payment system safely using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then evaluated IRO across one hundred controlled synthetic payment scenarios.</a:t>
            </a:r>
          </a:p>
          <a:p/>
          <a:p>
            <a:r>
              <a:t>IRO achieved a 57 percent overall recovery rate, compared with 32 percent for our transparent naive single-rail baseline.</a:t>
            </a:r>
          </a:p>
          <a:p/>
          <a:p>
            <a:r>
              <a:t>That resulted in two hundred and thirty-one thousand and sixty-nine rupees of simulated recovered revenue, compared with one hundred and forty-seven thousand six hundred and fifty-seven rupees for the baseline.</a:t>
            </a:r>
          </a:p>
          <a:p/>
          <a:p>
            <a:r>
              <a:t>And importantly, IRO executed zero unsafe actions while blocking twenty-four simulated unsafe recovery attempts.</a:t>
            </a:r>
          </a:p>
          <a:p/>
          <a:p>
            <a:r>
              <a:t>These are synthetic results, not real Razorpay transaction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biggest learning from building IRO was that payment recovery isn't just an AI problem.</a:t>
            </a:r>
          </a:p>
          <a:p/>
          <a:p>
            <a:r>
              <a:t>It's a reliability problem.</a:t>
            </a:r>
          </a:p>
          <a:p>
            <a:r>
              <a:t>A concurrency problem.</a:t>
            </a:r>
          </a:p>
          <a:p>
            <a:r>
              <a:t>A policy problem.</a:t>
            </a:r>
          </a:p>
          <a:p>
            <a:r>
              <a:t>A cost problem.</a:t>
            </a:r>
          </a:p>
          <a:p>
            <a:r>
              <a:t>And only sometimes… an AI problem.</a:t>
            </a:r>
          </a:p>
          <a:p/>
          <a:p>
            <a:r>
              <a:t>We didn't build an AI that controls payments.</a:t>
            </a:r>
          </a:p>
          <a:p>
            <a:r>
              <a:t>We built a payment recovery system that knows when AI is worth using.</a:t>
            </a:r>
          </a:p>
          <a:p/>
          <a:p>
            <a:r>
              <a:t>IRO — Intelligent Recovery Orchestrator.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IRO — Intelligent Recovery Orchestrator.</a:t>
            </a:r>
          </a:p>
          <a:p/>
          <a:p>
            <a:r>
              <a:t>The system is in charge of the AI, not the AI in charge of the payment system.</a:t>
            </a:r>
          </a:p>
          <a:p/>
          <a:p>
            <a:r>
              <a:t>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097280"/>
            <a:ext cx="4114800" cy="384048"/>
          </a:xfrm>
          <a:prstGeom prst="roundRect">
            <a:avLst/>
          </a:prstGeom>
          <a:solidFill>
            <a:srgbClr val="132247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>
              <a:defRPr sz="1000" b="1">
                <a:solidFill>
                  <a:srgbClr val="60A5FA"/>
                </a:solidFill>
                <a:latin typeface="Segoe UI"/>
              </a:defRPr>
            </a:pPr>
            <a:r>
              <a:t>RAZORPAY AI BUILDATHON 2026 • TRACK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6984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  <a:latin typeface="Segoe UI"/>
              </a:defRPr>
            </a:pPr>
            <a:r>
              <a:t>Intelligent Recovery Orchestrator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9601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94A3B8"/>
                </a:solidFill>
                <a:latin typeface="Segoe UI"/>
              </a:defRPr>
            </a:pPr>
            <a:r>
              <a:t>A distributed revenue-recovery system that detects failed payments, safely orchestrates recovery strategies, and knows when AI is worth using.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749039"/>
            <a:ext cx="2468880" cy="1371600"/>
          </a:xfrm>
          <a:prstGeom prst="roundRect">
            <a:avLst/>
          </a:prstGeom>
          <a:solidFill>
            <a:srgbClr val="0E172E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913631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0B981"/>
                </a:solidFill>
                <a:latin typeface="Segoe UI"/>
              </a:defRPr>
            </a:pPr>
            <a:r>
              <a:t>57.0%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407407"/>
            <a:ext cx="2103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RECOVERY 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681727"/>
            <a:ext cx="2103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vs 32.0% Baseline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0" y="3749039"/>
            <a:ext cx="2468880" cy="1371600"/>
          </a:xfrm>
          <a:prstGeom prst="roundRect">
            <a:avLst/>
          </a:prstGeom>
          <a:solidFill>
            <a:srgbClr val="0E172E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0" y="3913631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60A5FA"/>
                </a:solidFill>
                <a:latin typeface="Segoe UI"/>
              </a:defRPr>
            </a:pPr>
            <a:r>
              <a:t>₹231,069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4407407"/>
            <a:ext cx="2103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REVENUE SAVED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4681727"/>
            <a:ext cx="2103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+₹83,412 Net Lift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3749039"/>
            <a:ext cx="2468880" cy="1371600"/>
          </a:xfrm>
          <a:prstGeom prst="roundRect">
            <a:avLst/>
          </a:prstGeom>
          <a:solidFill>
            <a:srgbClr val="0E172E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3913631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6B6D4"/>
                </a:solidFill>
                <a:latin typeface="Segoe UI"/>
              </a:defRPr>
            </a:pPr>
            <a:r>
              <a:t>0 UNSAFE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4407407"/>
            <a:ext cx="2103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  <a:latin typeface="Segoe UI"/>
              </a:defRPr>
            </a:pPr>
            <a:r>
              <a:t>ACTIONS EXECUTED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681727"/>
            <a:ext cx="2103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24 Attempts Blocked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0" y="3749039"/>
            <a:ext cx="2468880" cy="1371600"/>
          </a:xfrm>
          <a:prstGeom prst="roundRect">
            <a:avLst/>
          </a:prstGeom>
          <a:solidFill>
            <a:srgbClr val="0E172E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0" y="3913631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59E0B"/>
                </a:solidFill>
                <a:latin typeface="Segoe UI"/>
              </a:defRPr>
            </a:pPr>
            <a:r>
              <a:t>2,920x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0" y="4407407"/>
            <a:ext cx="2103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  <a:latin typeface="Segoe UI"/>
              </a:defRPr>
            </a:pPr>
            <a:r>
              <a:t>AI COST ROI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4681727"/>
            <a:ext cx="2103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₹28.56 Total AI Cost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76072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Built by Om Dapke  •  FastAPI + PostgreSQL + Redis Locks + Kafka Architecture + Multi-Tier AI Gateway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Segoe UI"/>
              </a:defRPr>
            </a:pPr>
            <a:r>
              <a:t>01. THE PROBLEM 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Segoe UI"/>
              </a:defRPr>
            </a:pPr>
            <a:r>
              <a:t>The Fundamental Insight: 1 Failure → 5 Decisions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In payments, the wrong recovery decision can be far worse than no recovery at all.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3291840" cy="4114800"/>
          </a:xfrm>
          <a:prstGeom prst="roundRect">
            <a:avLst/>
          </a:prstGeom>
          <a:solidFill>
            <a:srgbClr val="132247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27432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EF4444"/>
                </a:solidFill>
                <a:latin typeface="Segoe UI"/>
              </a:defRPr>
            </a:pPr>
            <a:r>
              <a:t>ORIGINATING EVENT</a:t>
            </a:r>
          </a:p>
          <a:p>
            <a:pPr>
              <a:defRPr sz="3200" b="1">
                <a:solidFill>
                  <a:srgbClr val="FFFFFF"/>
                </a:solidFill>
                <a:latin typeface="Segoe UI"/>
              </a:defRPr>
            </a:pPr>
            <a:r>
              <a:t>₹75,000</a:t>
            </a:r>
          </a:p>
          <a:p>
            <a:pPr>
              <a:defRPr sz="1100">
                <a:solidFill>
                  <a:srgbClr val="94A3B8"/>
                </a:solidFill>
                <a:latin typeface="Consolas"/>
              </a:defRPr>
            </a:pPr>
            <a:r>
              <a:t>PAYMENT FAILED</a:t>
            </a:r>
            <a:br/>
            <a:r>
              <a:t>Attempt 2 of 3 • Credit Card</a:t>
            </a:r>
            <a:br/>
            <a:r>
              <a:t>Error: GATEWAY_TIMEOUT</a:t>
            </a:r>
            <a:br/>
            <a:r>
              <a:t>Route: HDFC_CARDS (Degraded)</a:t>
            </a:r>
          </a:p>
          <a:p>
            <a:br/>
            <a:pPr>
              <a:defRPr sz="1100">
                <a:solidFill>
                  <a:srgbClr val="EF4444"/>
                </a:solidFill>
                <a:latin typeface="Segoe UI"/>
              </a:defRPr>
            </a:pPr>
            <a:r>
              <a:t>Naive Action:</a:t>
            </a:r>
            <a:br/>
            <a:r>
              <a:t>Blind retry on same route</a:t>
            </a:r>
            <a:br/>
            <a:r>
              <a:t>Outcome: Double Debit or Repeat Failure!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737360"/>
            <a:ext cx="3383280" cy="1097280"/>
          </a:xfrm>
          <a:prstGeom prst="roundRect">
            <a:avLst/>
          </a:prstGeom>
          <a:solidFill>
            <a:srgbClr val="0E172E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1847088"/>
            <a:ext cx="30175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59E0B"/>
                </a:solidFill>
                <a:latin typeface="Segoe UI"/>
              </a:defRPr>
            </a:pPr>
            <a:r>
              <a:t>1. RETRY?</a:t>
            </a:r>
          </a:p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Try again with backoff</a:t>
            </a:r>
            <a:br/>
            <a:r>
              <a:t>Transient gateway glitch or network socket drop.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3017520"/>
            <a:ext cx="3383280" cy="1097280"/>
          </a:xfrm>
          <a:prstGeom prst="roundRect">
            <a:avLst/>
          </a:prstGeom>
          <a:solidFill>
            <a:srgbClr val="0E172E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3127248"/>
            <a:ext cx="30175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6B6D4"/>
                </a:solidFill>
                <a:latin typeface="Segoe UI"/>
              </a:defRPr>
            </a:pPr>
            <a:r>
              <a:t>2. SWITCH ROUTE?</a:t>
            </a:r>
          </a:p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Try alternate payment rail</a:t>
            </a:r>
            <a:br/>
            <a:r>
              <a:t>Primary bank gateway degraded; route to healthy rail.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4297680"/>
            <a:ext cx="3383280" cy="1097280"/>
          </a:xfrm>
          <a:prstGeom prst="roundRect">
            <a:avLst/>
          </a:prstGeom>
          <a:solidFill>
            <a:srgbClr val="0E172E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0560" y="4407408"/>
            <a:ext cx="30175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0A5FA"/>
                </a:solidFill>
                <a:latin typeface="Segoe UI"/>
              </a:defRPr>
            </a:pPr>
            <a:r>
              <a:t>3. ASK CUSTOMER?</a:t>
            </a:r>
          </a:p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Interactive recovery link</a:t>
            </a:r>
            <a:br/>
            <a:r>
              <a:t>Expired 3DS OTP, insufficient balance, or card expired.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79" y="1737360"/>
            <a:ext cx="3383280" cy="1097280"/>
          </a:xfrm>
          <a:prstGeom prst="roundRect">
            <a:avLst/>
          </a:prstGeom>
          <a:solidFill>
            <a:srgbClr val="0E172E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59" y="1847088"/>
            <a:ext cx="30175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284C7"/>
                </a:solidFill>
                <a:latin typeface="Segoe UI"/>
              </a:defRPr>
            </a:pPr>
            <a:r>
              <a:t>4. WAIT?</a:t>
            </a:r>
          </a:p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Hold for reconciliation</a:t>
            </a:r>
            <a:br/>
            <a:r>
              <a:t>Gateway timeout: bank may still be capturing in-flight.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55279" y="3017520"/>
            <a:ext cx="3383280" cy="1097280"/>
          </a:xfrm>
          <a:prstGeom prst="roundRect">
            <a:avLst/>
          </a:prstGeom>
          <a:solidFill>
            <a:srgbClr val="0E172E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59" y="3127248"/>
            <a:ext cx="30175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EF4444"/>
                </a:solidFill>
                <a:latin typeface="Segoe UI"/>
              </a:defRPr>
            </a:pPr>
            <a:r>
              <a:t>5. STOP?</a:t>
            </a:r>
          </a:p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Halt recovery immediately</a:t>
            </a:r>
            <a:br/>
            <a:r>
              <a:t>Hard decline, fraud stop, or merchant max retry reached.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55279" y="4297680"/>
            <a:ext cx="3383280" cy="1554480"/>
          </a:xfrm>
          <a:prstGeom prst="roundRect">
            <a:avLst/>
          </a:prstGeom>
          <a:solidFill>
            <a:srgbClr val="0B1124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60" y="4389120"/>
            <a:ext cx="30175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59E0B"/>
                </a:solidFill>
                <a:latin typeface="Segoe UI"/>
              </a:defRPr>
            </a:pPr>
            <a:r>
              <a:t>THE COST OF GUESSING</a:t>
            </a:r>
          </a:p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• Double debits lead to chargeback penalties</a:t>
            </a:r>
            <a:br/>
            <a:r>
              <a:t>• Inappropriate retries trigger bank fraud throttles</a:t>
            </a:r>
            <a:br/>
            <a:r>
              <a:t>• Blind automation causes severe customer churn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Segoe UI"/>
              </a:defRPr>
            </a:pPr>
            <a:r>
              <a:t>02. ARCHITECTURE &amp; HIERARCHY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Segoe UI"/>
              </a:defRPr>
            </a:pPr>
            <a:r>
              <a:t>The Decision Hierarchy: AI Proposes, System Decides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Deterministic rules handle what we understand; AI is engaged only when decisions become ambiguous.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3383280" cy="3474720"/>
          </a:xfrm>
          <a:prstGeom prst="roundRect">
            <a:avLst/>
          </a:prstGeom>
          <a:solidFill>
            <a:srgbClr val="0E172E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3017520" cy="3474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Segoe UI"/>
              </a:defRPr>
            </a:pPr>
            <a:r>
              <a:t>TIER 1: DETERMINISTIC ENGINE</a:t>
            </a:r>
          </a:p>
          <a:p>
            <a:pPr>
              <a:defRPr sz="1000">
                <a:solidFill>
                  <a:srgbClr val="94A3B8"/>
                </a:solidFill>
                <a:latin typeface="Consolas"/>
              </a:defRPr>
            </a:pPr>
            <a:r>
              <a:t>&lt; 1ms Latency  •  68% of All Traffic</a:t>
            </a:r>
          </a:p>
          <a:p>
            <a:pPr>
              <a:defRPr sz="1050">
                <a:solidFill>
                  <a:srgbClr val="FFFFFF"/>
                </a:solidFill>
                <a:latin typeface="Segoe UI"/>
              </a:defRPr>
            </a:pPr>
            <a:r>
              <a:t>• Static rule-based evaluation &amp; idempotent cache lookup</a:t>
            </a:r>
            <a:br/>
            <a:r>
              <a:t>• Automatically handles standard transient failures &amp; terminal stops</a:t>
            </a:r>
            <a:br/>
            <a:r>
              <a:t>• Zero AI token overhead, deterministic SLA safety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737360"/>
            <a:ext cx="3383280" cy="3474720"/>
          </a:xfrm>
          <a:prstGeom prst="roundRect">
            <a:avLst/>
          </a:prstGeom>
          <a:solidFill>
            <a:srgbClr val="0E172E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920240"/>
            <a:ext cx="3017520" cy="3474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0A5FA"/>
                </a:solidFill>
                <a:latin typeface="Segoe UI"/>
              </a:defRPr>
            </a:pPr>
            <a:r>
              <a:t>TIER 2: MODEL ROUTER &amp; GATEWAY</a:t>
            </a:r>
          </a:p>
          <a:p>
            <a:pPr>
              <a:defRPr sz="1000">
                <a:solidFill>
                  <a:srgbClr val="94A3B8"/>
                </a:solidFill>
                <a:latin typeface="Consolas"/>
              </a:defRPr>
            </a:pPr>
            <a:r>
              <a:t>15ms Latency  •  Classification &amp; Routing</a:t>
            </a:r>
          </a:p>
          <a:p>
            <a:pPr>
              <a:defRPr sz="1050">
                <a:solidFill>
                  <a:srgbClr val="FFFFFF"/>
                </a:solidFill>
                <a:latin typeface="Segoe UI"/>
              </a:defRPr>
            </a:pPr>
            <a:r>
              <a:t>• Intent classification for ambiguous errors</a:t>
            </a:r>
            <a:br/>
            <a:r>
              <a:t>• Selects optimal model tier (Fast Classifier vs Deep Specialist)</a:t>
            </a:r>
            <a:br/>
            <a:r>
              <a:t>• Evaluates route telemetry &amp; merchant profile metadata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737360"/>
            <a:ext cx="3383280" cy="3474720"/>
          </a:xfrm>
          <a:prstGeom prst="roundRect">
            <a:avLst/>
          </a:prstGeom>
          <a:solidFill>
            <a:srgbClr val="0E172E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920240"/>
            <a:ext cx="3017520" cy="3474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Segoe UI"/>
              </a:defRPr>
            </a:pPr>
            <a:r>
              <a:t>TIER 3: SPECIALIST RECOVERY AGENT</a:t>
            </a:r>
          </a:p>
          <a:p>
            <a:pPr>
              <a:defRPr sz="1000">
                <a:solidFill>
                  <a:srgbClr val="94A3B8"/>
                </a:solidFill>
                <a:latin typeface="Consolas"/>
              </a:defRPr>
            </a:pPr>
            <a:r>
              <a:t>25ms Latency  •  32% Deep Reasoning</a:t>
            </a:r>
          </a:p>
          <a:p>
            <a:pPr>
              <a:defRPr sz="1050">
                <a:solidFill>
                  <a:srgbClr val="FFFFFF"/>
                </a:solidFill>
                <a:latin typeface="Segoe UI"/>
              </a:defRPr>
            </a:pPr>
            <a:r>
              <a:t>• Multi-step contextual investigation of payment history</a:t>
            </a:r>
            <a:br/>
            <a:r>
              <a:t>• Evaluates degraded rails, merchant SLA &amp; customer risk</a:t>
            </a:r>
            <a:br/>
            <a:r>
              <a:t>• Proposes structured recovery plan (READ-ONLY permissions)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394960"/>
            <a:ext cx="10698480" cy="1005840"/>
          </a:xfrm>
          <a:prstGeom prst="roundRect">
            <a:avLst/>
          </a:prstGeom>
          <a:solidFill>
            <a:srgbClr val="132247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440680"/>
            <a:ext cx="1033272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Segoe UI"/>
              </a:defRPr>
            </a:pPr>
            <a:r>
              <a:t>MANDATORY ENFORCEMENT: DETERMINISTIC FINANCIAL POLICY ENGINE</a:t>
            </a:r>
          </a:p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Every AI recommendation must independently satisfy hard policy guards before execution: Retry limit thresholds, maximum recovery window SLA, merchant contract permissions, and atomic payment state revalidation. AI has NO direct write access.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Segoe UI"/>
              </a:defRPr>
            </a:pPr>
            <a:r>
              <a:t>03. DISTRIBUTED SYSTEMS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Segoe UI"/>
              </a:defRPr>
            </a:pPr>
            <a:r>
              <a:t>The Hard Part Wasn't AI: Concurrency &amp; Idempotency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In an event-driven payment system, duplicate events are inevitable. Duplicate debits are intolerable.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212080" cy="3657600"/>
          </a:xfrm>
          <a:prstGeom prst="roundRect">
            <a:avLst/>
          </a:prstGeom>
          <a:solidFill>
            <a:srgbClr val="0E172E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65960"/>
            <a:ext cx="4663440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EF4444"/>
                </a:solidFill>
                <a:latin typeface="Segoe UI"/>
              </a:defRPr>
            </a:pPr>
            <a:r>
              <a:t>1. REDIS DISTRIBUTED LOCKING</a:t>
            </a:r>
          </a:p>
          <a:p>
            <a:pPr>
              <a:defRPr sz="1200" i="1">
                <a:solidFill>
                  <a:srgbClr val="FFFFFF"/>
                </a:solidFill>
                <a:latin typeface="Segoe UI"/>
              </a:defRPr>
            </a:pPr>
            <a:r>
              <a:t>Answers: "Who can work on this payment now?"</a:t>
            </a:r>
          </a:p>
          <a:p>
            <a:br/>
            <a:pPr>
              <a:defRPr sz="1050">
                <a:solidFill>
                  <a:srgbClr val="94A3B8"/>
                </a:solidFill>
                <a:latin typeface="Segoe UI"/>
              </a:defRPr>
            </a:pPr>
            <a:r>
              <a:t>• Prevents simultaneous recovery workers from retrying the same failure</a:t>
            </a:r>
            <a:br/>
            <a:r>
              <a:t>• Atomic key acquisition: SET lock:recovery:{payment_id} NX EX {ttl}</a:t>
            </a:r>
            <a:br/>
            <a:r>
              <a:t>• Automatic TTL expiration prevents deadlocks if a worker node crashes</a:t>
            </a:r>
            <a:br/>
            <a:r>
              <a:t>• Safe release via Lua script guarantees only lock owner can release</a:t>
            </a:r>
            <a:br/>
            <a:r>
              <a:t>• Critical for high-concurrency Kafka consumers processing failure events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737360"/>
            <a:ext cx="5212080" cy="3657600"/>
          </a:xfrm>
          <a:prstGeom prst="roundRect">
            <a:avLst/>
          </a:prstGeom>
          <a:solidFill>
            <a:srgbClr val="0E172E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4663440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6B6D4"/>
                </a:solidFill>
                <a:latin typeface="Segoe UI"/>
              </a:defRPr>
            </a:pPr>
            <a:r>
              <a:t>2. DATABASE DURABLE IDEMPOTENCY</a:t>
            </a:r>
          </a:p>
          <a:p>
            <a:pPr>
              <a:defRPr sz="1200" i="1">
                <a:solidFill>
                  <a:srgbClr val="FFFFFF"/>
                </a:solidFill>
                <a:latin typeface="Segoe UI"/>
              </a:defRPr>
            </a:pPr>
            <a:r>
              <a:t>Answers: "Has this recovery already happened?"</a:t>
            </a:r>
          </a:p>
          <a:p>
            <a:br/>
            <a:pPr>
              <a:defRPr sz="1050">
                <a:solidFill>
                  <a:srgbClr val="94A3B8"/>
                </a:solidFill>
                <a:latin typeface="Segoe UI"/>
              </a:defRPr>
            </a:pPr>
            <a:r>
              <a:t>• Durable barrier against retried, redelivered, or delayed messages</a:t>
            </a:r>
            <a:br/>
            <a:r>
              <a:t>• Deterministic key hashing: idemp:rec:{payment_id}:{attempt_seq}</a:t>
            </a:r>
            <a:br/>
            <a:r>
              <a:t>• Pre-execution reservation pattern: record created before API call</a:t>
            </a:r>
            <a:br/>
            <a:r>
              <a:t>• If execution crashes mid-flight, state machine handles safe reconciliation</a:t>
            </a:r>
            <a:br/>
            <a:r>
              <a:t>• Guarantees EXACTLY-ONCE financial execution across network partitions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577840"/>
            <a:ext cx="10698480" cy="822960"/>
          </a:xfrm>
          <a:prstGeom prst="roundRect">
            <a:avLst/>
          </a:prstGeom>
          <a:solidFill>
            <a:srgbClr val="132247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623560"/>
            <a:ext cx="103327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FFFFFF"/>
                </a:solidFill>
                <a:latin typeface="Segoe UI"/>
              </a:defRPr>
            </a:pPr>
            <a:r>
              <a:t>KEY FINTECH LESSON: A lock alone does not guarantee exactly-once payment execution. Distributed locking coordinates in-flight concurrency; relational idempotency provides durable historical finality.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Segoe UI"/>
              </a:defRPr>
            </a:pPr>
            <a:r>
              <a:t>04. FINANCIAL SAFETY &amp; EDGE CASES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Segoe UI"/>
              </a:defRPr>
            </a:pPr>
            <a:r>
              <a:t>Dynamic State Inversion &amp; Timeout Ambiguity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Payment recovery is an asynchronous time-travel problem where reality changes while you wait.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212080" cy="4297680"/>
          </a:xfrm>
          <a:prstGeom prst="roundRect">
            <a:avLst/>
          </a:prstGeom>
          <a:solidFill>
            <a:srgbClr val="0E172E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4663440" cy="3749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59E0B"/>
                </a:solidFill>
                <a:latin typeface="Segoe UI"/>
              </a:defRPr>
            </a:pPr>
            <a:r>
              <a:t>EDGE CASE 1: STATE INVERSION</a:t>
            </a:r>
          </a:p>
          <a:p>
            <a:pPr>
              <a:defRPr sz="1100" i="1">
                <a:solidFill>
                  <a:srgbClr val="FFFFFF"/>
                </a:solidFill>
                <a:latin typeface="Segoe UI"/>
              </a:defRPr>
            </a:pPr>
            <a:r>
              <a:t>Payment succeeds while recovery is waiting in queue.</a:t>
            </a:r>
          </a:p>
          <a:p>
            <a:br/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1. T0: Payment attempt fails on banking rail.</a:t>
            </a:r>
            <a:br/>
            <a:r>
              <a:t>2. T1: Recovery orchestrator schedules a retry for T + 60s.</a:t>
            </a:r>
            <a:br/>
            <a:r>
              <a:t>3. T2: Customer re-enters checkout and pays successfully via UPI!</a:t>
            </a:r>
            <a:br/>
            <a:r>
              <a:t>4. T3: Scheduled recovery worker wakes up to retry original payment.</a:t>
            </a:r>
            <a:br/>
            <a:br/>
            <a:r>
              <a:t>THE CATASTROPHIC RISK: Double debiting the customer!</a:t>
            </a:r>
            <a:br/>
            <a:br/>
            <a:r>
              <a:t>IRO DEFENSE MECHANISM: Authoritative Pre-Execution Revalidation.</a:t>
            </a:r>
            <a:br/>
            <a:r>
              <a:t>Before acquiring locks or initiating payment APIs, IRO queries the source-of-truth payment state. If status == SUCCESS, recovery is stopped immediately with zero action.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737360"/>
            <a:ext cx="5212080" cy="4297680"/>
          </a:xfrm>
          <a:prstGeom prst="roundRect">
            <a:avLst/>
          </a:prstGeom>
          <a:solidFill>
            <a:srgbClr val="0E172E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011680"/>
            <a:ext cx="4663440" cy="3749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0A5FA"/>
                </a:solidFill>
                <a:latin typeface="Segoe UI"/>
              </a:defRPr>
            </a:pPr>
            <a:r>
              <a:t>EDGE CASE 2: TIMEOUT AMBIGUITY</a:t>
            </a:r>
          </a:p>
          <a:p>
            <a:pPr>
              <a:defRPr sz="1100" i="1">
                <a:solidFill>
                  <a:srgbClr val="FFFFFF"/>
                </a:solidFill>
                <a:latin typeface="Segoe UI"/>
              </a:defRPr>
            </a:pPr>
            <a:r>
              <a:t>A timeout does not mean the payment failed.</a:t>
            </a:r>
          </a:p>
          <a:p>
            <a:br/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1. Acquirer gateway drops connection after 15,000ms.</a:t>
            </a:r>
            <a:br/>
            <a:r>
              <a:t>2. Did the customer's bank debit the money? Unknown.</a:t>
            </a:r>
            <a:br/>
            <a:r>
              <a:t>3. Did the merchant capture the transaction? Unknown.</a:t>
            </a:r>
            <a:br/>
            <a:br/>
            <a:r>
              <a:t>THE CATASTROPHIC RISK: Blindly retrying creates a duplicate charge while the bank is still processing attempt #1.</a:t>
            </a:r>
            <a:br/>
            <a:br/>
            <a:r>
              <a:t>IRO DEFENSE MECHANISM: Hold for Reconciliation.</a:t>
            </a:r>
            <a:br/>
            <a:r>
              <a:t>IRO classifies timeouts as AMBIGUOUS_IN_FLIGHT. Instead of immediate retry, the case enters a holding state with automated polling against the bank settlement/status API.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Segoe UI"/>
              </a:defRPr>
            </a:pPr>
            <a:r>
              <a:t>05. AI INFRASTRUCTURE &amp;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Segoe UI"/>
              </a:defRPr>
            </a:pPr>
            <a:r>
              <a:t>AI as Infrastructure: Tiered Routing &amp; L7 Scaling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The goal is not to use more AI. It is to use exactly as much intelligence as the decision requires.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10698480" cy="1417320"/>
          </a:xfrm>
          <a:prstGeom prst="roundRect">
            <a:avLst/>
          </a:prstGeom>
          <a:solidFill>
            <a:srgbClr val="0E172E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74520"/>
            <a:ext cx="10149840" cy="1234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6B6D4"/>
                </a:solidFill>
                <a:latin typeface="Segoe UI"/>
              </a:defRPr>
            </a:pPr>
            <a:r>
              <a:t>LAYER 1: MODEL ROUTER (WHAT TO RUN?)</a:t>
            </a:r>
          </a:p>
          <a:p>
            <a:pPr>
              <a:defRPr sz="1000" i="1">
                <a:solidFill>
                  <a:srgbClr val="FFFFFF"/>
                </a:solidFill>
                <a:latin typeface="Segoe UI"/>
              </a:defRPr>
            </a:pPr>
            <a:r>
              <a:t>Evaluates task complexity and routes to right-sized inference tiers.</a:t>
            </a:r>
          </a:p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• Fast Classification Tier: Simple classification (timeout vs decline, route matching). 5ms latency, $0.0005/1k tokens.</a:t>
            </a:r>
            <a:br/>
            <a:r>
              <a:t>• Deep Reasoning Tier: Multi-attempt failure analysis, merchant contract reconciliation. 25ms latency, deep reasoning.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337560"/>
            <a:ext cx="10698480" cy="1417320"/>
          </a:xfrm>
          <a:prstGeom prst="roundRect">
            <a:avLst/>
          </a:prstGeom>
          <a:solidFill>
            <a:srgbClr val="0E172E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474720"/>
            <a:ext cx="10149840" cy="1234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0A5FA"/>
                </a:solidFill>
                <a:latin typeface="Segoe UI"/>
              </a:defRPr>
            </a:pPr>
            <a:r>
              <a:t>LAYER 2: L7 RECOVERY LOAD BALANCER (WHERE TO RUN?)</a:t>
            </a:r>
          </a:p>
          <a:p>
            <a:pPr>
              <a:defRPr sz="1000" i="1">
                <a:solidFill>
                  <a:srgbClr val="FFFFFF"/>
                </a:solidFill>
                <a:latin typeface="Segoe UI"/>
              </a:defRPr>
            </a:pPr>
            <a:r>
              <a:t>Health-aware dispatching across distributed specialist worker instances.</a:t>
            </a:r>
          </a:p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• Active health monitoring: Tracks instance states (HEALTHY, DEGRADED, DOWN).</a:t>
            </a:r>
            <a:br/>
            <a:r>
              <a:t>• Telemetry-driven load balancing: Dispatches to least-loaded healthy specialist container.</a:t>
            </a:r>
            <a:br/>
            <a:r>
              <a:t>• Fast circuit breaker: Automatically trips if specialist latency exceeds 150ms SLA.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937760"/>
            <a:ext cx="10698480" cy="1417320"/>
          </a:xfrm>
          <a:prstGeom prst="roundRect">
            <a:avLst/>
          </a:prstGeom>
          <a:solidFill>
            <a:srgbClr val="0E172E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074920"/>
            <a:ext cx="10149840" cy="1234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0B981"/>
                </a:solidFill>
                <a:latin typeface="Segoe UI"/>
              </a:defRPr>
            </a:pPr>
            <a:r>
              <a:t>LAYER 3: ZERO-AI DETERMINISTIC BYPASS (WHEN NOT TO RUN?)</a:t>
            </a:r>
          </a:p>
          <a:p>
            <a:pPr>
              <a:defRPr sz="1000" i="1">
                <a:solidFill>
                  <a:srgbClr val="FFFFFF"/>
                </a:solidFill>
                <a:latin typeface="Segoe UI"/>
              </a:defRPr>
            </a:pPr>
            <a:r>
              <a:t>The most scalable AI request is the one you never make.</a:t>
            </a:r>
          </a:p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• 68% of payment failures resolved with ZERO AI inference tokens.</a:t>
            </a:r>
            <a:br/>
            <a:r>
              <a:t>• Direct fallback: If all AI instances degrade or fail, system operates cleanly on deterministic rules.</a:t>
            </a:r>
            <a:br/>
            <a:r>
              <a:t>• Eliminates external API dependencies from the critical payment authorization path.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Segoe UI"/>
              </a:defRPr>
            </a:pPr>
            <a:r>
              <a:t>06. END-TO-END WALKTHROUGH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Segoe UI"/>
              </a:defRPr>
            </a:pPr>
            <a:r>
              <a:t>Case Study: The ₹75,000 High-Value Recovery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Tracing an ambiguous edge case from failure detection to safe financial settlement.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1993392" cy="4206240"/>
          </a:xfrm>
          <a:prstGeom prst="roundRect">
            <a:avLst/>
          </a:prstGeom>
          <a:solidFill>
            <a:srgbClr val="0E172E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920240"/>
            <a:ext cx="17190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Segoe UI"/>
              </a:defRPr>
            </a:pPr>
            <a:r>
              <a:t>1. FAILURE EVENT</a:t>
            </a:r>
          </a:p>
          <a:p>
            <a:pPr>
              <a:defRPr sz="1200" b="1">
                <a:solidFill>
                  <a:srgbClr val="FFFFFF"/>
                </a:solidFill>
                <a:latin typeface="Segoe UI"/>
              </a:defRPr>
            </a:pPr>
            <a:r>
              <a:t>₹75,000 Payment Fails</a:t>
            </a:r>
          </a:p>
          <a:p>
            <a:br/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Credit card attempt #2 fails on HDFC rail with GATEWAY_ERROR. Rail health drops to 38%.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07792" y="1737360"/>
            <a:ext cx="1993392" cy="4206240"/>
          </a:xfrm>
          <a:prstGeom prst="roundRect">
            <a:avLst/>
          </a:prstGeom>
          <a:solidFill>
            <a:srgbClr val="0E172E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44952" y="1920240"/>
            <a:ext cx="17190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Segoe UI"/>
              </a:defRPr>
            </a:pPr>
            <a:r>
              <a:t>2. SPECIALIST INVESTIGATION</a:t>
            </a:r>
          </a:p>
          <a:p>
            <a:pPr>
              <a:defRPr sz="1200" b="1">
                <a:solidFill>
                  <a:srgbClr val="FFFFFF"/>
                </a:solidFill>
                <a:latin typeface="Segoe UI"/>
              </a:defRPr>
            </a:pPr>
            <a:r>
              <a:t>Read-Only AI Analysis</a:t>
            </a:r>
          </a:p>
          <a:p>
            <a:br/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Ambiguity detected. Specialist agent inspects route health &amp; merchant limits. (ZERO write access).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84064" y="1737360"/>
            <a:ext cx="1993392" cy="4206240"/>
          </a:xfrm>
          <a:prstGeom prst="roundRect">
            <a:avLst/>
          </a:prstGeom>
          <a:solidFill>
            <a:srgbClr val="0E172E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21224" y="1920240"/>
            <a:ext cx="17190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Segoe UI"/>
              </a:defRPr>
            </a:pPr>
            <a:r>
              <a:t>3. AI PROPOSAL</a:t>
            </a:r>
          </a:p>
          <a:p>
            <a:pPr>
              <a:defRPr sz="1200" b="1">
                <a:solidFill>
                  <a:srgbClr val="FFFFFF"/>
                </a:solidFill>
                <a:latin typeface="Segoe UI"/>
              </a:defRPr>
            </a:pPr>
            <a:r>
              <a:t>Recommend Route Switch</a:t>
            </a:r>
          </a:p>
          <a:p>
            <a:br/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Agent identifies ICICI rail is healthy (98.4%). Recommends SWITCH_ROUTE with 120s backoff.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60336" y="1737360"/>
            <a:ext cx="1993392" cy="4206240"/>
          </a:xfrm>
          <a:prstGeom prst="roundRect">
            <a:avLst/>
          </a:prstGeom>
          <a:solidFill>
            <a:srgbClr val="0E172E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97496" y="1920240"/>
            <a:ext cx="17190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Segoe UI"/>
              </a:defRPr>
            </a:pPr>
            <a:r>
              <a:t>4. POLICY ENGINE GATE</a:t>
            </a:r>
          </a:p>
          <a:p>
            <a:pPr>
              <a:defRPr sz="1200" b="1">
                <a:solidFill>
                  <a:srgbClr val="FFFFFF"/>
                </a:solidFill>
                <a:latin typeface="Segoe UI"/>
              </a:defRPr>
            </a:pPr>
            <a:r>
              <a:t>Deterministic Validation</a:t>
            </a:r>
          </a:p>
          <a:p>
            <a:br/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Financial policy checks: Attempt limit (2&lt;3), SLA window valid, route permitted, payment still failed.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436608" y="1737360"/>
            <a:ext cx="1993392" cy="4206240"/>
          </a:xfrm>
          <a:prstGeom prst="roundRect">
            <a:avLst/>
          </a:prstGeom>
          <a:solidFill>
            <a:srgbClr val="0E172E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73768" y="1920240"/>
            <a:ext cx="17190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Segoe UI"/>
              </a:defRPr>
            </a:pPr>
            <a:r>
              <a:t>5. SAFE EXECUTION</a:t>
            </a:r>
          </a:p>
          <a:p>
            <a:pPr>
              <a:defRPr sz="1200" b="1">
                <a:solidFill>
                  <a:srgbClr val="FFFFFF"/>
                </a:solidFill>
                <a:latin typeface="Segoe UI"/>
              </a:defRPr>
            </a:pPr>
            <a:r>
              <a:t>Revenue Recovered!</a:t>
            </a:r>
          </a:p>
          <a:p>
            <a:br/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Redis TTL lock acquired, DB idempotency reserved, transaction captured on ICICI. ₹75,000 SAVED!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Segoe UI"/>
              </a:defRPr>
            </a:pPr>
            <a:r>
              <a:t>07. EMPIRICAL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Segoe UI"/>
              </a:defRPr>
            </a:pPr>
            <a:r>
              <a:t>Empirical Evaluation: 100 Synthetic Scenarios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Head-to-head comparison of IRO vs. Naive Single-Rail Baseline on controlled synthetic payment data.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2468880" cy="1920240"/>
          </a:xfrm>
          <a:prstGeom prst="roundRect">
            <a:avLst/>
          </a:prstGeom>
          <a:solidFill>
            <a:srgbClr val="0E172E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874520"/>
            <a:ext cx="2139696" cy="1920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4748B"/>
                </a:solidFill>
                <a:latin typeface="Segoe UI"/>
              </a:defRPr>
            </a:pPr>
            <a:r>
              <a:t>RECOVERY RATE</a:t>
            </a:r>
          </a:p>
          <a:p>
            <a:pPr>
              <a:defRPr sz="1800" b="1">
                <a:solidFill>
                  <a:srgbClr val="10B981"/>
                </a:solidFill>
                <a:latin typeface="Segoe UI"/>
              </a:defRPr>
            </a:pPr>
            <a:r>
              <a:t>IRO: 57.0%</a:t>
            </a:r>
          </a:p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Baseline: 32.0%</a:t>
            </a:r>
          </a:p>
          <a:p>
            <a:pPr>
              <a:defRPr sz="950" b="1">
                <a:solidFill>
                  <a:srgbClr val="FFFFFF"/>
                </a:solidFill>
                <a:latin typeface="Segoe UI"/>
              </a:defRPr>
            </a:pPr>
            <a:r>
              <a:t>+78.1% Relative Lift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1737360"/>
            <a:ext cx="2468880" cy="1920240"/>
          </a:xfrm>
          <a:prstGeom prst="roundRect">
            <a:avLst/>
          </a:prstGeom>
          <a:solidFill>
            <a:srgbClr val="0E172E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39312" y="1874520"/>
            <a:ext cx="2139696" cy="1920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4748B"/>
                </a:solidFill>
                <a:latin typeface="Segoe UI"/>
              </a:defRPr>
            </a:pPr>
            <a:r>
              <a:t>RECOVERED REVENUE</a:t>
            </a:r>
          </a:p>
          <a:p>
            <a:pPr>
              <a:defRPr sz="1800" b="1">
                <a:solidFill>
                  <a:srgbClr val="60A5FA"/>
                </a:solidFill>
                <a:latin typeface="Segoe UI"/>
              </a:defRPr>
            </a:pPr>
            <a:r>
              <a:t>IRO: ₹231,069</a:t>
            </a:r>
          </a:p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Baseline: ₹147,657</a:t>
            </a:r>
          </a:p>
          <a:p>
            <a:pPr>
              <a:defRPr sz="950" b="1">
                <a:solidFill>
                  <a:srgbClr val="FFFFFF"/>
                </a:solidFill>
                <a:latin typeface="Segoe UI"/>
              </a:defRPr>
            </a:pPr>
            <a:r>
              <a:t>+₹83,412 Net Lift (+56.5%)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737360"/>
            <a:ext cx="2468880" cy="1920240"/>
          </a:xfrm>
          <a:prstGeom prst="roundRect">
            <a:avLst/>
          </a:prstGeom>
          <a:solidFill>
            <a:srgbClr val="0E172E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82512" y="1874520"/>
            <a:ext cx="2139696" cy="1920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4748B"/>
                </a:solidFill>
                <a:latin typeface="Segoe UI"/>
              </a:defRPr>
            </a:pPr>
            <a:r>
              <a:t>UNSAFE ACTIONS</a:t>
            </a:r>
          </a:p>
          <a:p>
            <a:pPr>
              <a:defRPr sz="1800" b="1">
                <a:solidFill>
                  <a:srgbClr val="06B6D4"/>
                </a:solidFill>
                <a:latin typeface="Segoe UI"/>
              </a:defRPr>
            </a:pPr>
            <a:r>
              <a:t>IRO: 0 EXECUTED</a:t>
            </a:r>
          </a:p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Baseline: 24 EXECUTED</a:t>
            </a:r>
          </a:p>
          <a:p>
            <a:pPr>
              <a:defRPr sz="950" b="1">
                <a:solidFill>
                  <a:srgbClr val="FFFFFF"/>
                </a:solidFill>
                <a:latin typeface="Segoe UI"/>
              </a:defRPr>
            </a:pPr>
            <a:r>
              <a:t>24 Unsafe Attempts Blocked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1120" y="1737360"/>
            <a:ext cx="2468880" cy="1920240"/>
          </a:xfrm>
          <a:prstGeom prst="roundRect">
            <a:avLst/>
          </a:prstGeom>
          <a:solidFill>
            <a:srgbClr val="0E172E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25712" y="1874520"/>
            <a:ext cx="2139696" cy="1920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4748B"/>
                </a:solidFill>
                <a:latin typeface="Segoe UI"/>
              </a:defRPr>
            </a:pPr>
            <a:r>
              <a:t>AI INFERENCE ROI</a:t>
            </a:r>
          </a:p>
          <a:p>
            <a:pPr>
              <a:defRPr sz="1800" b="1">
                <a:solidFill>
                  <a:srgbClr val="F59E0B"/>
                </a:solidFill>
                <a:latin typeface="Segoe UI"/>
              </a:defRPr>
            </a:pPr>
            <a:r>
              <a:t>IRO: 2,920x</a:t>
            </a:r>
          </a:p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Baseline: 0x (No AI)</a:t>
            </a:r>
          </a:p>
          <a:p>
            <a:pPr>
              <a:defRPr sz="950" b="1">
                <a:solidFill>
                  <a:srgbClr val="FFFFFF"/>
                </a:solidFill>
                <a:latin typeface="Segoe UI"/>
              </a:defRPr>
            </a:pPr>
            <a:r>
              <a:t>₹28.56 ($0.336) Total AI Cost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931920"/>
            <a:ext cx="10698480" cy="1645920"/>
          </a:xfrm>
          <a:prstGeom prst="roundRect">
            <a:avLst/>
          </a:prstGeom>
          <a:solidFill>
            <a:srgbClr val="13224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069080"/>
            <a:ext cx="1014984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Segoe UI"/>
              </a:defRPr>
            </a:pPr>
            <a:r>
              <a:t>BREAKDOWN BY TIER &amp; EXECUTION SAFETY (N=100 TRANSACTIONS)</a:t>
            </a:r>
          </a:p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• Tier Distribution: 68 Tier-1 Deterministic (0 token overhead) + 32 Tier-3 Specialist Agent dispatches.</a:t>
            </a:r>
            <a:br/>
            <a:r>
              <a:t>• Token Consumption: 20,800 total tokens (14.4k prompt / 6.4k completion) across 32 complex dispatches.</a:t>
            </a:r>
            <a:br/>
            <a:r>
              <a:t>• Safety Invariant: Zero double debits, zero policy violations, zero unauthorized attempts executed.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76072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64748B"/>
                </a:solidFill>
                <a:latin typeface="Segoe UI"/>
              </a:defRPr>
            </a:pPr>
            <a:r>
              <a:t>DISCLAIMER: Evaluated across 100 controlled synthetic payment scenarios with realistic distributions. These are synthetic benchmark results, not real Razorpay transaction outcomes.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Segoe UI"/>
              </a:defRPr>
            </a:pPr>
            <a:r>
              <a:t>08. KEY 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Segoe UI"/>
              </a:defRPr>
            </a:pPr>
            <a:r>
              <a:t>Core Learnings: Payment Recovery Beyond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Payment recovery is fundamentally a systems engineering challenge, and only sometimes an AI challenge.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1993392" cy="2377440"/>
          </a:xfrm>
          <a:prstGeom prst="roundRect">
            <a:avLst/>
          </a:prstGeom>
          <a:solidFill>
            <a:srgbClr val="0E172E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920240"/>
            <a:ext cx="171907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Segoe UI"/>
              </a:defRPr>
            </a:pPr>
            <a:r>
              <a:t>A RELIABILITY PROBLEM</a:t>
            </a:r>
          </a:p>
          <a:p>
            <a:br/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Resilient FSM state machines, dead letter queues, and bounded retry intervals.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07792" y="1737360"/>
            <a:ext cx="1993392" cy="2377440"/>
          </a:xfrm>
          <a:prstGeom prst="roundRect">
            <a:avLst/>
          </a:prstGeom>
          <a:solidFill>
            <a:srgbClr val="0E172E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44952" y="1920240"/>
            <a:ext cx="171907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60A5FA"/>
                </a:solidFill>
                <a:latin typeface="Segoe UI"/>
              </a:defRPr>
            </a:pPr>
            <a:r>
              <a:t>A CONCURRENCY PROBLEM</a:t>
            </a:r>
          </a:p>
          <a:p>
            <a:br/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Distributed Redis locking (SET NX EX) and durable relational idempotency barriers.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84064" y="1737360"/>
            <a:ext cx="1993392" cy="2377440"/>
          </a:xfrm>
          <a:prstGeom prst="roundRect">
            <a:avLst/>
          </a:prstGeom>
          <a:solidFill>
            <a:srgbClr val="0E172E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21224" y="1920240"/>
            <a:ext cx="171907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  <a:latin typeface="Segoe UI"/>
              </a:defRPr>
            </a:pPr>
            <a:r>
              <a:t>A POLICY PROBLEM</a:t>
            </a:r>
          </a:p>
          <a:p>
            <a:br/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Deterministic financial policy guards, retry thresholds, and regulatory compliance boundaries.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60336" y="1737360"/>
            <a:ext cx="1993392" cy="2377440"/>
          </a:xfrm>
          <a:prstGeom prst="roundRect">
            <a:avLst/>
          </a:prstGeom>
          <a:solidFill>
            <a:srgbClr val="0E172E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97496" y="1920240"/>
            <a:ext cx="171907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F4444"/>
                </a:solidFill>
                <a:latin typeface="Segoe UI"/>
              </a:defRPr>
            </a:pPr>
            <a:r>
              <a:t>A COST PROBLEM</a:t>
            </a:r>
          </a:p>
          <a:p>
            <a:br/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Right-sized model routing, L7 load balancing, and fast deterministic bypass for 68% of cases.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436608" y="1737360"/>
            <a:ext cx="1993392" cy="2377440"/>
          </a:xfrm>
          <a:prstGeom prst="roundRect">
            <a:avLst/>
          </a:prstGeom>
          <a:solidFill>
            <a:srgbClr val="0E172E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73768" y="1920240"/>
            <a:ext cx="171907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Segoe UI"/>
              </a:defRPr>
            </a:pPr>
            <a:r>
              <a:t>AND ONLY SOMETIMES...</a:t>
            </a:r>
          </a:p>
          <a:p>
            <a:br/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An AI problem. Introduced strictly when recovery decisions become ambiguous.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389120"/>
            <a:ext cx="10698480" cy="1828800"/>
          </a:xfrm>
          <a:prstGeom prst="roundRect">
            <a:avLst/>
          </a:prstGeom>
          <a:solidFill>
            <a:srgbClr val="132247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572000"/>
            <a:ext cx="996696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solidFill>
                  <a:srgbClr val="94A3B8"/>
                </a:solidFill>
                <a:latin typeface="Segoe UI"/>
              </a:defRPr>
            </a:pPr>
            <a:r>
              <a:t>"We didn't build an AI that controls payments."</a:t>
            </a:r>
          </a:p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We built a payment recovery system that knows when AI is worth using.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Segoe UI"/>
              </a:defRPr>
            </a:pPr>
            <a:r>
              <a:t>09.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Segoe UI"/>
              </a:defRPr>
            </a:pPr>
            <a:r>
              <a:t>IRO: Production-Grade Revenue Recovery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Full architectural verification, automated test suites, and open-source implementation.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212080" cy="4389120"/>
          </a:xfrm>
          <a:prstGeom prst="roundRect">
            <a:avLst/>
          </a:prstGeom>
          <a:solidFill>
            <a:srgbClr val="0E172E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20240"/>
            <a:ext cx="4663440" cy="3931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0B981"/>
                </a:solidFill>
                <a:latin typeface="Segoe UI"/>
              </a:defRPr>
            </a:pPr>
            <a:r>
              <a:t>VERIFICATION &amp; PRODUCTION INVARIANTS</a:t>
            </a:r>
          </a:p>
          <a:p>
            <a:br/>
            <a:pPr>
              <a:defRPr sz="1050">
                <a:solidFill>
                  <a:srgbClr val="94A3B8"/>
                </a:solidFill>
                <a:latin typeface="Segoe UI"/>
              </a:defRPr>
            </a:pPr>
            <a:r>
              <a:t>• 120 / 120 Automated Tests Passing (Pytest)</a:t>
            </a:r>
            <a:br/>
            <a:r>
              <a:t>  Unit, Integration, FSM, Concurrency, and Gateway suites.</a:t>
            </a:r>
            <a:br/>
            <a:br/>
            <a:r>
              <a:t>• Strict Relational Audit Ledger</a:t>
            </a:r>
            <a:br/>
            <a:r>
              <a:t>  Every state transition and AI recommendation permanently logged.</a:t>
            </a:r>
            <a:br/>
            <a:br/>
            <a:r>
              <a:t>• Zero Code Mutations Needed for Scaling</a:t>
            </a:r>
            <a:br/>
            <a:r>
              <a:t>  Decoupled L7 load balancer handles multi-model worker pools.</a:t>
            </a:r>
            <a:br/>
            <a:br/>
            <a:r>
              <a:t>• Production-Grade Benchmark Framework</a:t>
            </a:r>
            <a:br/>
            <a:r>
              <a:t>  Empirical batch evaluation supporting 10 to 100,000 transactions.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737360"/>
            <a:ext cx="5212080" cy="4389120"/>
          </a:xfrm>
          <a:prstGeom prst="roundRect">
            <a:avLst/>
          </a:prstGeom>
          <a:solidFill>
            <a:srgbClr val="0E172E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920240"/>
            <a:ext cx="4663440" cy="3931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6B6D4"/>
                </a:solidFill>
                <a:latin typeface="Segoe UI"/>
              </a:defRPr>
            </a:pPr>
            <a:r>
              <a:t>CORE TECHNOLOGY STACK</a:t>
            </a:r>
          </a:p>
          <a:p>
            <a:br/>
            <a:pPr>
              <a:defRPr sz="1050">
                <a:solidFill>
                  <a:srgbClr val="FFFFFF"/>
                </a:solidFill>
                <a:latin typeface="Segoe UI"/>
              </a:defRPr>
            </a:pPr>
            <a:r>
              <a:t>• Backend Framework: Python 3.12 • FastAPI • Pydantic v2</a:t>
            </a:r>
            <a:br/>
            <a:r>
              <a:t>• Persistence: PostgreSQL 16 (AsyncPG / SQLAlchemy 2.0)</a:t>
            </a:r>
            <a:br/>
            <a:r>
              <a:t>• Distributed State: Redis 7 (Atomic TTL Locks &amp; Keys)</a:t>
            </a:r>
            <a:br/>
            <a:r>
              <a:t>• Event Backbone: Decoupled Kafka Event Contract Architecture</a:t>
            </a:r>
            <a:br/>
            <a:r>
              <a:t>• AI Tier: Tiered Model Router + L7 Adaptive Load Balancer</a:t>
            </a:r>
            <a:br/>
            <a:r>
              <a:t>• Observability: Real-Time Recovery Dashboard &amp; Telemetry API</a:t>
            </a:r>
            <a:br/>
            <a:br/>
            <a:r>
              <a:t>PROJECT AUTHOR</a:t>
            </a:r>
            <a:br/>
            <a:r>
              <a:t>Om Dapke  •  github.com/omdapke01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